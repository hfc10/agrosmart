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7772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7373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AgroSmart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1371600" y="3017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6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Irrigação Inteligente: Simulação IoT e Lógica Preditiva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286000" y="3703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Gêmeo Digital Validado via Wokwi &amp; MQTT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54864" cy="5029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do Campo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Hídrica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irrigação convencional baseada em timers resulta em desperdício severo de água e energia, ignorando as condições reais do solo e do clima.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operacionais elevados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saturação do solo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monitoramento remoto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3566160"/>
          </a:xfrm>
          <a:prstGeom prst="roundRect">
            <a:avLst>
              <a:gd name="adj" fmla="val 3846"/>
            </a:avLst>
          </a:prstGeom>
          <a:solidFill>
            <a:srgbClr val="D4E8D0"/>
          </a:solidFill>
          <a:ln w="12700">
            <a:solidFill>
              <a:srgbClr val="B8D4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05840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🌾</a:t>
            </a:r>
            <a:endParaRPr lang="en-US" sz="8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54864" cy="5029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AgroSmart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6002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Preditiva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3017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baseada no cruzamento de dados de sensores locais e APIs climáticas web.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4425696"/>
            <a:ext cx="2560320" cy="5486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91840" y="128016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600200"/>
            <a:ext cx="731520" cy="7315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&amp; Nuvem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474720" y="3017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ultra-leve via protocolo de telemetria, ideal para áreas rurais.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337560" y="4425696"/>
            <a:ext cx="2560320" cy="5486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0" y="128016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00200"/>
            <a:ext cx="731520" cy="7315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5508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400800" y="3017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totalmente emulado no Wokwi para validação de software sem custo.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63640" y="4425696"/>
            <a:ext cx="2560320" cy="5486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54864" cy="5029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AgroSmart vs. Mercado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2514600" cy="530352"/>
          </a:xfrm>
          <a:prstGeom prst="rect">
            <a:avLst/>
          </a:prstGeom>
          <a:solidFill>
            <a:srgbClr val="1E4D30"/>
          </a:solidFill>
          <a:ln w="12700">
            <a:solidFill>
              <a:srgbClr val="1E4D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71800" y="1188720"/>
            <a:ext cx="2697480" cy="530352"/>
          </a:xfrm>
          <a:prstGeom prst="rect">
            <a:avLst/>
          </a:prstGeom>
          <a:solidFill>
            <a:srgbClr val="1E4D30"/>
          </a:solidFill>
          <a:ln w="12700">
            <a:solidFill>
              <a:srgbClr val="1E4D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63240" y="1188720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Proprietária (Rachio 3)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15000" y="1188720"/>
            <a:ext cx="2880360" cy="530352"/>
          </a:xfrm>
          <a:prstGeom prst="rect">
            <a:avLst/>
          </a:prstGeom>
          <a:solidFill>
            <a:srgbClr val="1E4D30"/>
          </a:solidFill>
          <a:ln w="12700">
            <a:solidFill>
              <a:srgbClr val="1E4D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188720"/>
            <a:ext cx="2788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AgroSmart (Nossa Solução)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755648"/>
            <a:ext cx="2514600" cy="621792"/>
          </a:xfrm>
          <a:prstGeom prst="rect">
            <a:avLst/>
          </a:prstGeom>
          <a:solidFill>
            <a:srgbClr val="F9FAF9"/>
          </a:solidFill>
          <a:ln w="12700">
            <a:solidFill>
              <a:srgbClr val="D8E8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0136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971800" y="1755648"/>
            <a:ext cx="2697480" cy="621792"/>
          </a:xfrm>
          <a:prstGeom prst="rect">
            <a:avLst/>
          </a:prstGeom>
          <a:solidFill>
            <a:srgbClr val="F9FAF9"/>
          </a:solidFill>
          <a:ln w="12700">
            <a:solidFill>
              <a:srgbClr val="D8E8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80136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Fechado / API Privada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15000" y="1755648"/>
            <a:ext cx="2880360" cy="621792"/>
          </a:xfrm>
          <a:prstGeom prst="rect">
            <a:avLst/>
          </a:prstGeom>
          <a:solidFill>
            <a:srgbClr val="F9FAF9"/>
          </a:solidFill>
          <a:ln w="12700">
            <a:solidFill>
              <a:srgbClr val="D8E8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180136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Padrão Aberto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2459736"/>
            <a:ext cx="2514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50545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Hardware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971800" y="2459736"/>
            <a:ext cx="2697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250545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U$ 230,00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715000" y="2459736"/>
            <a:ext cx="2880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2505456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R$ 150,00 (Potencial)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11480" y="3163824"/>
            <a:ext cx="2514600" cy="621792"/>
          </a:xfrm>
          <a:prstGeom prst="rect">
            <a:avLst/>
          </a:prstGeom>
          <a:solidFill>
            <a:srgbClr val="F9FAF9"/>
          </a:solidFill>
          <a:ln w="12700">
            <a:solidFill>
              <a:srgbClr val="D8E8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20954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Climática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971800" y="3163824"/>
            <a:ext cx="2697480" cy="621792"/>
          </a:xfrm>
          <a:prstGeom prst="rect">
            <a:avLst/>
          </a:prstGeom>
          <a:solidFill>
            <a:srgbClr val="F9FAF9"/>
          </a:solidFill>
          <a:ln w="12700">
            <a:solidFill>
              <a:srgbClr val="D8E8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320954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Premium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715000" y="3163824"/>
            <a:ext cx="2880360" cy="621792"/>
          </a:xfrm>
          <a:prstGeom prst="rect">
            <a:avLst/>
          </a:prstGeom>
          <a:solidFill>
            <a:srgbClr val="F9FAF9"/>
          </a:solidFill>
          <a:ln w="12700">
            <a:solidFill>
              <a:srgbClr val="D8E8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3209544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OpenWeather (Livre)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11480" y="3867912"/>
            <a:ext cx="2514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91363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971800" y="3867912"/>
            <a:ext cx="2697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63240" y="391363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Fechado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715000" y="3867912"/>
            <a:ext cx="2880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06440" y="391363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Integração (Node-RED)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54864" cy="5029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Sensores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4114800" cy="3566160"/>
          </a:xfrm>
          <a:prstGeom prst="roundRect">
            <a:avLst>
              <a:gd name="adj" fmla="val 3846"/>
            </a:avLst>
          </a:prstGeom>
          <a:solidFill>
            <a:srgbClr val="E8F0E8"/>
          </a:solidFill>
          <a:ln w="12700">
            <a:solidFill>
              <a:srgbClr val="C0D8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5156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</a:rPr>
              <a:t>🖥️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484632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Simulados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16002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Utilizamos módulos virtuais no Wokwi para emular perfeitamente o ambiente físico: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23774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7800" y="23317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ESP32:</a:t>
            </a:r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Cérebro Wi-Fi e Processamento.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0175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29718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Potenciômetro:</a:t>
            </a:r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Emulação de Umidade do Solo.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65760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57800" y="36118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DHT22:</a:t>
            </a:r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Temperatura e Umidade do Ar.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429768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57800" y="42519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Azul:</a:t>
            </a:r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Atuador (Relé da Bomba).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54864" cy="5029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Coração: Protocolo MQTT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1883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365760" y="3383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TCP Padrão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Tópicos &amp; Broker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1600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Utilizado: </a:t>
            </a:r>
            <a:pPr indent="0" marL="0">
              <a:buNone/>
            </a:pPr>
            <a:r>
              <a:rPr lang="en-US" sz="13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broker.hivemq.com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205740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21488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Pub: agrosmart/telemetria/solo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Pub: agrosmart/telemetria/temp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Sub: agrosmart/comando/bomba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3429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Publish/Subscribe garante latência mínima e baixo consumo de dados.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54864" cy="5029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Decisão Preditiva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514600"/>
            <a:ext cx="7315200" cy="36576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94560"/>
            <a:ext cx="685800" cy="68580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6771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017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4747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detecta Solo &lt; 30%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108960" y="2194560"/>
            <a:ext cx="685800" cy="68580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267712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51760" y="3017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651760" y="34747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Previsão de Chuva (API)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212080" y="2194560"/>
            <a:ext cx="685800" cy="68580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2267712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54880" y="3017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754880" y="34747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 bomba se for chover em 24h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315200" y="2194560"/>
            <a:ext cx="685800" cy="68580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2" y="2267712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58000" y="3017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858000" y="34747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 bomba e atualiza App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54864" cy="5029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e Integrações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3716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385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MQTT/API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2642616"/>
            <a:ext cx="2560320" cy="5486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91840" y="118872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7160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0" y="19385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383280" y="22860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Climáticos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337560" y="2642616"/>
            <a:ext cx="2560320" cy="5486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5760" y="28803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06324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" y="36301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/ PubSub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57200" y="39776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ESP32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11480" y="4334256"/>
            <a:ext cx="2560320" cy="5486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291840" y="28803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306324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383280" y="36301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3383280" y="39776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Mensageria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337560" y="4334256"/>
            <a:ext cx="2560320" cy="5486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00800" y="1188720"/>
            <a:ext cx="2468880" cy="33832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6492240" y="1325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em Camadas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492240" y="18105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(Wokwi)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492240" y="21579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MQTT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492240" y="25054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Broker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492240" y="28529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HTTP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49224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492240" y="35478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REST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492240" y="38953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Web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54864" cy="5029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Web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24/7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responsiva em JS puro que se conecta ao Backend para exibir telemetria em tempo real e fornecer botões de override manual da bomba.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de gauges de umidade e status da previsão climática integrados.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Gauges de umidade do solo e temperatura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climática 24h (OpenWeather)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preditiva em tempo real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LIGAR/DESLIGAR da bomba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Automático integrado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160520" cy="3703320"/>
          </a:xfrm>
          <a:prstGeom prst="roundRect">
            <a:avLst>
              <a:gd name="adj" fmla="val 4938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AgroSmart App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627632"/>
            <a:ext cx="379476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7007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6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Solo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66560" y="170078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2286000"/>
            <a:ext cx="379476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3591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6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Temp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66560" y="23591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24.5°C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2944368"/>
            <a:ext cx="379476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6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🌤️ Clima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66560" y="3017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chuva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3602736"/>
            <a:ext cx="379476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6758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6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Status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766560" y="36758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54864" cy="5029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 Viabilidade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de Água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3063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6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Irrigação por Timer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28016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3291840" y="26517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Protótipo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91840" y="3063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6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Simulação Wokwi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28016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6217920" y="26517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Agro BR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0" y="3063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6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Alto Potencial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520440"/>
            <a:ext cx="8412480" cy="18288"/>
          </a:xfrm>
          <a:prstGeom prst="rect">
            <a:avLst/>
          </a:prstGeom>
          <a:solidFill>
            <a:srgbClr val="D0E8D0"/>
          </a:solidFill>
          <a:ln w="12700">
            <a:solidFill>
              <a:srgbClr val="D0E8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611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6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físico estimado em R$ 150 | MQTT aberto para escalar | Agro = 6.8% do PIB brasileiro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54864" cy="5029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Projeto (GitHub)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</a:t>
            </a:r>
            <a:pPr indent="0" marL="0">
              <a:buNone/>
            </a:pPr>
            <a:r>
              <a:rPr lang="en-US" sz="16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</a:t>
            </a:r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Firmware C++ ESP32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01368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</a:t>
            </a:r>
            <a:pPr indent="0" marL="0">
              <a:buNone/>
            </a:pPr>
            <a:r>
              <a:rPr lang="en-US" sz="16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</a:t>
            </a:r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 FastAPI Python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68296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</a:t>
            </a:r>
            <a:pPr indent="0" marL="0">
              <a:buNone/>
            </a:pPr>
            <a:r>
              <a:rPr lang="en-US" sz="16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mobile-app/</a:t>
            </a:r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Frontend Web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35224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</a:t>
            </a:r>
            <a:pPr indent="0" marL="0">
              <a:buNone/>
            </a:pPr>
            <a:r>
              <a:rPr lang="en-US" sz="16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diagram.json</a:t>
            </a:r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Circuito Wokwi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0" y="1188720"/>
            <a:ext cx="37490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1208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atualizado: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0" y="1801368"/>
            <a:ext cx="3383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 guia de instalação das dependências Python, configuração da chave da API OpenWeather e passos para rodar o Wokwi.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EFF8F0"/>
          </a:solidFill>
          <a:ln w="12700">
            <a:solidFill>
              <a:srgbClr val="B8DF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290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🔗  Wokwi: </a:t>
            </a:r>
            <a:pPr indent="0" marL="0">
              <a:buNone/>
            </a:pPr>
            <a:r>
              <a:rPr lang="en-US" sz="1300" dirty="0">
                <a:solidFill>
                  <a:srgbClr val="2E7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wokwi.com/projects/466022879727959041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594360"/>
            <a:ext cx="1371600" cy="137160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86200" y="5943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20574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828800" y="32918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6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pela atenção!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388620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1E5C3A"/>
          </a:solidFill>
          <a:ln w="12700">
            <a:solidFill>
              <a:srgbClr val="1E5C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3886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github.com/hfc10/AgroSmart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AgroSmart — Irrigação Inteligente</dc:title>
  <dc:subject>PptxGenJS Presentation</dc:subject>
  <dc:creator>PptxGenJS</dc:creator>
  <cp:lastModifiedBy>PptxGenJS</cp:lastModifiedBy>
  <cp:revision>1</cp:revision>
  <dcterms:created xsi:type="dcterms:W3CDTF">2026-06-16T06:54:22Z</dcterms:created>
  <dcterms:modified xsi:type="dcterms:W3CDTF">2026-06-16T06:54:22Z</dcterms:modified>
</cp:coreProperties>
</file>