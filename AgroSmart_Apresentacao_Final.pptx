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FAE833E-8E29-488E-87D2-E33060172FE8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CB5567-2F56-49CF-BC6E-F3BD885506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3437AA-2544-4222-944D-3F87A629BA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6C5C31-5E2B-4318-96AD-7DD902C025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8FC861-0CC1-4EBD-803C-531548C416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29B351-00D3-4D6C-B613-BFFD2C5AB2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2C45D9-E2A9-446B-BDE4-6EA0084762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7A74EB-C699-4D04-9DCF-65075D22B4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0A1D2E-7689-46E5-B5FC-32AECA1D58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5D355C-5972-43C2-A978-F7C1B98B85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FDCEC2-3743-4893-A766-BF97DB7C6D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8F604F-B440-4F88-9BFF-6708053115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92A34F-329C-42C7-90CB-B5FF2F23CB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4160520" y="777240"/>
            <a:ext cx="8226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914400" y="1737360"/>
            <a:ext cx="7314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AgroSmart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1371600" y="3017520"/>
            <a:ext cx="6400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Irrigação Inteligente: Simulação IoT e Lógica Preditiva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2286000" y="370332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Gêmeo Digital Validado via Wokwi &amp; MQTT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411480" y="320040"/>
            <a:ext cx="54360" cy="5025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5670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O Desafio do Campo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457200" y="114300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Eficiência Hídrica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57200" y="1600200"/>
            <a:ext cx="3931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 irrigação convencional baseada em timers resulta em desperdício de água e energia, ignorando as condições reais do solo e do clima.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457200" y="2651760"/>
            <a:ext cx="3931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d3748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Alto custos operacional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3748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Risco de saturação do solo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3748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Falta de monitoramento remoto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4754880" y="1005840"/>
            <a:ext cx="4023000" cy="3565800"/>
          </a:xfrm>
          <a:prstGeom prst="roundRect">
            <a:avLst>
              <a:gd name="adj" fmla="val 3846"/>
            </a:avLst>
          </a:prstGeom>
          <a:solidFill>
            <a:srgbClr val="d4e8d0"/>
          </a:solidFill>
          <a:ln w="12700">
            <a:solidFill>
              <a:srgbClr val="b8d4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4754880" y="1005840"/>
            <a:ext cx="402300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🌾</a:t>
            </a:r>
            <a:endParaRPr lang="pt-BR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411480" y="320040"/>
            <a:ext cx="54360" cy="5025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670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A Solução AgroSmart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365760" y="1280160"/>
            <a:ext cx="2651400" cy="3200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de8"/>
            </a:solidFill>
            <a:round/>
          </a:ln>
          <a:effectLst>
            <a:outerShdw algn="bl" blurRad="12708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1280160" y="160020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3"/>
          <p:cNvSpPr/>
          <p:nvPr/>
        </p:nvSpPr>
        <p:spPr>
          <a:xfrm>
            <a:off x="502920" y="24688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Lógica Preditiva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548640" y="301752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Decisão baseada no cruzamento de dados de sensores locais e APIs climáticas web.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411480" y="4425840"/>
            <a:ext cx="2559960" cy="543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3291840" y="1280160"/>
            <a:ext cx="2651400" cy="3200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de8"/>
            </a:solidFill>
            <a:round/>
          </a:ln>
          <a:effectLst>
            <a:outerShdw algn="bl" blurRad="12708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1" descr="preencoded.png"/>
          <p:cNvPicPr/>
          <p:nvPr/>
        </p:nvPicPr>
        <p:blipFill>
          <a:blip r:embed="rId2"/>
          <a:stretch/>
        </p:blipFill>
        <p:spPr>
          <a:xfrm>
            <a:off x="4206240" y="160020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7"/>
          <p:cNvSpPr/>
          <p:nvPr/>
        </p:nvSpPr>
        <p:spPr>
          <a:xfrm>
            <a:off x="3429000" y="24688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MQTT &amp; Nuvem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3474720" y="301752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Comunicação leve via protocolo de telemetria, ideal para áreas rurais.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3337560" y="4425840"/>
            <a:ext cx="2559960" cy="543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6217920" y="1280160"/>
            <a:ext cx="2651400" cy="3200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de8"/>
            </a:solidFill>
            <a:round/>
          </a:ln>
          <a:effectLst>
            <a:outerShdw algn="bl" blurRad="12708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2" descr="preencoded.png"/>
          <p:cNvPicPr/>
          <p:nvPr/>
        </p:nvPicPr>
        <p:blipFill>
          <a:blip r:embed="rId3"/>
          <a:stretch/>
        </p:blipFill>
        <p:spPr>
          <a:xfrm>
            <a:off x="7132320" y="160020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1"/>
          <p:cNvSpPr/>
          <p:nvPr/>
        </p:nvSpPr>
        <p:spPr>
          <a:xfrm>
            <a:off x="6355080" y="24688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Digital Twin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6400800" y="301752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Hardware totalmente emulado no Wokwi para validação de software sem custo.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6263640" y="4425840"/>
            <a:ext cx="2559960" cy="543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411480" y="320040"/>
            <a:ext cx="54360" cy="5025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670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AgroSmart vs. Mercado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411480" y="1188720"/>
            <a:ext cx="2514240" cy="529920"/>
          </a:xfrm>
          <a:prstGeom prst="rect">
            <a:avLst/>
          </a:prstGeom>
          <a:solidFill>
            <a:srgbClr val="1e4d30"/>
          </a:solidFill>
          <a:ln w="12700">
            <a:solidFill>
              <a:srgbClr val="1e4d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502920" y="1188720"/>
            <a:ext cx="2422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Característica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2971800" y="1188720"/>
            <a:ext cx="2697120" cy="529920"/>
          </a:xfrm>
          <a:prstGeom prst="rect">
            <a:avLst/>
          </a:prstGeom>
          <a:solidFill>
            <a:srgbClr val="1e4d30"/>
          </a:solidFill>
          <a:ln w="12700">
            <a:solidFill>
              <a:srgbClr val="1e4d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3063240" y="1188720"/>
            <a:ext cx="2605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Solução Proprietária (Rachio 3)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6"/>
          <p:cNvSpPr/>
          <p:nvPr/>
        </p:nvSpPr>
        <p:spPr>
          <a:xfrm>
            <a:off x="5715000" y="1188720"/>
            <a:ext cx="2880000" cy="529920"/>
          </a:xfrm>
          <a:prstGeom prst="rect">
            <a:avLst/>
          </a:prstGeom>
          <a:solidFill>
            <a:srgbClr val="1e4d30"/>
          </a:solidFill>
          <a:ln w="12700">
            <a:solidFill>
              <a:srgbClr val="1e4d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806440" y="1188720"/>
            <a:ext cx="2788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AgroSmart (Nossa Solução)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411480" y="1755720"/>
            <a:ext cx="2514240" cy="621360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502920" y="180144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Protocolo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0"/>
          <p:cNvSpPr/>
          <p:nvPr/>
        </p:nvSpPr>
        <p:spPr>
          <a:xfrm>
            <a:off x="2971800" y="1755720"/>
            <a:ext cx="2697120" cy="621360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3063240" y="180144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Fechado / API Privada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2"/>
          <p:cNvSpPr/>
          <p:nvPr/>
        </p:nvSpPr>
        <p:spPr>
          <a:xfrm>
            <a:off x="5715000" y="1755720"/>
            <a:ext cx="2880000" cy="621360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5806440" y="1801440"/>
            <a:ext cx="2742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MQTT Padrão Aberto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4"/>
          <p:cNvSpPr/>
          <p:nvPr/>
        </p:nvSpPr>
        <p:spPr>
          <a:xfrm>
            <a:off x="411480" y="2459880"/>
            <a:ext cx="2514240" cy="6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502920" y="250560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Custo de Hardware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2971800" y="2459880"/>
            <a:ext cx="2697120" cy="6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3063240" y="250560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 U$ 230,00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8"/>
          <p:cNvSpPr/>
          <p:nvPr/>
        </p:nvSpPr>
        <p:spPr>
          <a:xfrm>
            <a:off x="5715000" y="2459880"/>
            <a:ext cx="2880000" cy="6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5806440" y="2505600"/>
            <a:ext cx="2742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R$ 160,00 (Potencial)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0"/>
          <p:cNvSpPr/>
          <p:nvPr/>
        </p:nvSpPr>
        <p:spPr>
          <a:xfrm>
            <a:off x="411480" y="3163680"/>
            <a:ext cx="2514240" cy="621360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502920" y="320940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Lógica Climática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2"/>
          <p:cNvSpPr/>
          <p:nvPr/>
        </p:nvSpPr>
        <p:spPr>
          <a:xfrm>
            <a:off x="2971800" y="3163680"/>
            <a:ext cx="2697120" cy="621360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3"/>
          <p:cNvSpPr/>
          <p:nvPr/>
        </p:nvSpPr>
        <p:spPr>
          <a:xfrm>
            <a:off x="3063240" y="320940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Assinatura Premium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4"/>
          <p:cNvSpPr/>
          <p:nvPr/>
        </p:nvSpPr>
        <p:spPr>
          <a:xfrm>
            <a:off x="5715000" y="3163680"/>
            <a:ext cx="2880000" cy="621360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5806440" y="3209400"/>
            <a:ext cx="2742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API OpenWeather (Livre)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6"/>
          <p:cNvSpPr/>
          <p:nvPr/>
        </p:nvSpPr>
        <p:spPr>
          <a:xfrm>
            <a:off x="411480" y="3867840"/>
            <a:ext cx="2514240" cy="6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502920" y="391356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Flexibilidade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8"/>
          <p:cNvSpPr/>
          <p:nvPr/>
        </p:nvSpPr>
        <p:spPr>
          <a:xfrm>
            <a:off x="2971800" y="3867840"/>
            <a:ext cx="2697120" cy="6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9"/>
          <p:cNvSpPr/>
          <p:nvPr/>
        </p:nvSpPr>
        <p:spPr>
          <a:xfrm>
            <a:off x="3063240" y="391356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Ecossistema Fechado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0"/>
          <p:cNvSpPr/>
          <p:nvPr/>
        </p:nvSpPr>
        <p:spPr>
          <a:xfrm>
            <a:off x="5715000" y="3867840"/>
            <a:ext cx="2880000" cy="6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1"/>
          <p:cNvSpPr/>
          <p:nvPr/>
        </p:nvSpPr>
        <p:spPr>
          <a:xfrm>
            <a:off x="5806440" y="3913560"/>
            <a:ext cx="2742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Fácil Integração (Node-RED)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411480" y="320040"/>
            <a:ext cx="54360" cy="5025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670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Hardware &amp; Sensores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411480" y="1051560"/>
            <a:ext cx="4114440" cy="3565800"/>
          </a:xfrm>
          <a:prstGeom prst="roundRect">
            <a:avLst>
              <a:gd name="adj" fmla="val 3846"/>
            </a:avLst>
          </a:prstGeom>
          <a:solidFill>
            <a:srgbClr val="e8f0e8"/>
          </a:solidFill>
          <a:ln w="12700">
            <a:solidFill>
              <a:srgbClr val="c0d8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411480" y="1051560"/>
            <a:ext cx="411444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🖥️</a:t>
            </a:r>
            <a:endParaRPr lang="pt-BR" sz="1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4846320" y="109728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Componentes Simulados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4846320" y="160020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Utilizamos módulos virtuais no Wokwi para emular perfeitamente o ambiente físico: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0" descr="preencoded.png"/>
          <p:cNvPicPr/>
          <p:nvPr/>
        </p:nvPicPr>
        <p:blipFill>
          <a:blip r:embed="rId1"/>
          <a:stretch/>
        </p:blipFill>
        <p:spPr>
          <a:xfrm>
            <a:off x="4846320" y="23774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6"/>
          <p:cNvSpPr/>
          <p:nvPr/>
        </p:nvSpPr>
        <p:spPr>
          <a:xfrm>
            <a:off x="5257800" y="23317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ESP32:</a:t>
            </a:r>
            <a:r>
              <a:rPr lang="en-US" sz="13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 Cérebro Wi-Fi e Processamento.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1" descr="preencoded.png"/>
          <p:cNvPicPr/>
          <p:nvPr/>
        </p:nvPicPr>
        <p:blipFill>
          <a:blip r:embed="rId2"/>
          <a:stretch/>
        </p:blipFill>
        <p:spPr>
          <a:xfrm>
            <a:off x="4846320" y="30175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7"/>
          <p:cNvSpPr/>
          <p:nvPr/>
        </p:nvSpPr>
        <p:spPr>
          <a:xfrm>
            <a:off x="5257800" y="297180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Potenciômetro:</a:t>
            </a:r>
            <a:r>
              <a:rPr lang="en-US" sz="13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 Emulação de Umidade do Solo.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2" descr="preencoded.png"/>
          <p:cNvPicPr/>
          <p:nvPr/>
        </p:nvPicPr>
        <p:blipFill>
          <a:blip r:embed="rId3"/>
          <a:stretch/>
        </p:blipFill>
        <p:spPr>
          <a:xfrm>
            <a:off x="4846320" y="3657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8"/>
          <p:cNvSpPr/>
          <p:nvPr/>
        </p:nvSpPr>
        <p:spPr>
          <a:xfrm>
            <a:off x="5257800" y="361188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DHT22:</a:t>
            </a:r>
            <a:r>
              <a:rPr lang="en-US" sz="13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 Temperatura e Umidade do Ar.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3" descr="preencoded.png"/>
          <p:cNvPicPr/>
          <p:nvPr/>
        </p:nvPicPr>
        <p:blipFill>
          <a:blip r:embed="rId4"/>
          <a:stretch/>
        </p:blipFill>
        <p:spPr>
          <a:xfrm>
            <a:off x="4846320" y="4297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9"/>
          <p:cNvSpPr/>
          <p:nvPr/>
        </p:nvSpPr>
        <p:spPr>
          <a:xfrm>
            <a:off x="5257800" y="425196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LED Azul:</a:t>
            </a:r>
            <a:r>
              <a:rPr lang="en-US" sz="13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 Atuador (Relé da Bomba).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411480" y="320040"/>
            <a:ext cx="54360" cy="5025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670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O Coração: Protocolo MQTT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365760" y="1371600"/>
            <a:ext cx="41144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0" b="1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1883</a:t>
            </a:r>
            <a:endParaRPr lang="pt-BR" sz="1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365760" y="338328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Porta TCP Padrão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4846320" y="114300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Tópicos &amp; Broker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4846320" y="160020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Broker Utilizado: </a:t>
            </a:r>
            <a:r>
              <a:rPr lang="en-US" sz="13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broker.hivemq.com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4846320" y="2057400"/>
            <a:ext cx="3931560" cy="127980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4983480" y="214884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Pub: agrosmart/telemetria/solo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Pub: agrosmart/telemetria/temp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Sub: agrosmart/comando/bomba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4846320" y="342900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Modelo Publish/Subscribe garante latência mínima e baixo consumo de dados.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411480" y="320040"/>
            <a:ext cx="54360" cy="5025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670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Fluxo de Decisão Preditiva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914400" y="2514600"/>
            <a:ext cx="7314840" cy="363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1005840" y="2194560"/>
            <a:ext cx="685440" cy="6854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/>
          <a:stretch/>
        </p:blipFill>
        <p:spPr>
          <a:xfrm>
            <a:off x="1078920" y="22676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4"/>
          <p:cNvSpPr/>
          <p:nvPr/>
        </p:nvSpPr>
        <p:spPr>
          <a:xfrm>
            <a:off x="548640" y="30175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Leitura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548640" y="3474720"/>
            <a:ext cx="1645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ESP32 detecta Solo &lt; 30%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3108960" y="2194560"/>
            <a:ext cx="685440" cy="6854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1" descr="preencoded.png"/>
          <p:cNvPicPr/>
          <p:nvPr/>
        </p:nvPicPr>
        <p:blipFill>
          <a:blip r:embed="rId2"/>
          <a:stretch/>
        </p:blipFill>
        <p:spPr>
          <a:xfrm>
            <a:off x="3182040" y="22676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7"/>
          <p:cNvSpPr/>
          <p:nvPr/>
        </p:nvSpPr>
        <p:spPr>
          <a:xfrm>
            <a:off x="2651760" y="30175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Consulta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2651760" y="3474720"/>
            <a:ext cx="1645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Verifica Previsão de Chuva (API)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5212080" y="2194560"/>
            <a:ext cx="685440" cy="6854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2" descr="preencoded.png"/>
          <p:cNvPicPr/>
          <p:nvPr/>
        </p:nvPicPr>
        <p:blipFill>
          <a:blip r:embed="rId3"/>
          <a:stretch/>
        </p:blipFill>
        <p:spPr>
          <a:xfrm>
            <a:off x="5285160" y="22676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10"/>
          <p:cNvSpPr/>
          <p:nvPr/>
        </p:nvSpPr>
        <p:spPr>
          <a:xfrm>
            <a:off x="4754880" y="30175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Decisão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4754880" y="3474720"/>
            <a:ext cx="1645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Ignora bomba se for chover em 24h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7315200" y="2194560"/>
            <a:ext cx="685440" cy="6854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3" descr="preencoded.png"/>
          <p:cNvPicPr/>
          <p:nvPr/>
        </p:nvPicPr>
        <p:blipFill>
          <a:blip r:embed="rId4"/>
          <a:stretch/>
        </p:blipFill>
        <p:spPr>
          <a:xfrm>
            <a:off x="7388280" y="22676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13"/>
          <p:cNvSpPr/>
          <p:nvPr/>
        </p:nvSpPr>
        <p:spPr>
          <a:xfrm>
            <a:off x="6858000" y="30175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Execução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6858000" y="3474720"/>
            <a:ext cx="1645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Atua bomba e atualiza App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411480" y="320040"/>
            <a:ext cx="54360" cy="5025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670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Middleware e Integrações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365760" y="1188720"/>
            <a:ext cx="2651400" cy="15084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e8"/>
            </a:solidFill>
            <a:round/>
          </a:ln>
          <a:effectLst>
            <a:outerShdw algn="bl" blurRad="12708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1417320" y="13716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3"/>
          <p:cNvSpPr/>
          <p:nvPr/>
        </p:nvSpPr>
        <p:spPr>
          <a:xfrm>
            <a:off x="457200" y="193860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FastAPI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457200" y="228600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Bridge MQTT/API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411480" y="2642760"/>
            <a:ext cx="2559960" cy="543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3291840" y="1188720"/>
            <a:ext cx="2651400" cy="15084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e8"/>
            </a:solidFill>
            <a:round/>
          </a:ln>
          <a:effectLst>
            <a:outerShdw algn="bl" blurRad="12708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1" descr="preencoded.png"/>
          <p:cNvPicPr/>
          <p:nvPr/>
        </p:nvPicPr>
        <p:blipFill>
          <a:blip r:embed="rId2"/>
          <a:stretch/>
        </p:blipFill>
        <p:spPr>
          <a:xfrm>
            <a:off x="4343400" y="13716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7"/>
          <p:cNvSpPr/>
          <p:nvPr/>
        </p:nvSpPr>
        <p:spPr>
          <a:xfrm>
            <a:off x="3383280" y="193860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OpenWeather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3383280" y="228600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Dados Climáticos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3337560" y="2642760"/>
            <a:ext cx="2559960" cy="543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365760" y="2880360"/>
            <a:ext cx="2651400" cy="15084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e8"/>
            </a:solidFill>
            <a:round/>
          </a:ln>
          <a:effectLst>
            <a:outerShdw algn="bl" blurRad="12708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2" descr="preencoded.png"/>
          <p:cNvPicPr/>
          <p:nvPr/>
        </p:nvPicPr>
        <p:blipFill>
          <a:blip r:embed="rId3"/>
          <a:stretch/>
        </p:blipFill>
        <p:spPr>
          <a:xfrm>
            <a:off x="1417320" y="30632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11"/>
          <p:cNvSpPr/>
          <p:nvPr/>
        </p:nvSpPr>
        <p:spPr>
          <a:xfrm>
            <a:off x="457200" y="363024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C++ / PubSub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457200" y="397764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Firmware ESP32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411480" y="4334400"/>
            <a:ext cx="2559960" cy="543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3291840" y="2880360"/>
            <a:ext cx="2651400" cy="15084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e8"/>
            </a:solidFill>
            <a:round/>
          </a:ln>
          <a:effectLst>
            <a:outerShdw algn="bl" blurRad="12708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3" descr="preencoded.png"/>
          <p:cNvPicPr/>
          <p:nvPr/>
        </p:nvPicPr>
        <p:blipFill>
          <a:blip r:embed="rId4"/>
          <a:stretch/>
        </p:blipFill>
        <p:spPr>
          <a:xfrm>
            <a:off x="4343400" y="30632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15"/>
          <p:cNvSpPr/>
          <p:nvPr/>
        </p:nvSpPr>
        <p:spPr>
          <a:xfrm>
            <a:off x="3383280" y="363024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HiveMQ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3383280" y="397764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Comunicação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7"/>
          <p:cNvSpPr/>
          <p:nvPr/>
        </p:nvSpPr>
        <p:spPr>
          <a:xfrm>
            <a:off x="3337560" y="4334400"/>
            <a:ext cx="2559960" cy="543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8"/>
          <p:cNvSpPr/>
          <p:nvPr/>
        </p:nvSpPr>
        <p:spPr>
          <a:xfrm>
            <a:off x="6400800" y="1188720"/>
            <a:ext cx="2468520" cy="3382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ede8"/>
            </a:solidFill>
            <a:round/>
          </a:ln>
          <a:effectLst>
            <a:outerShdw algn="bl" blurRad="12708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6492240" y="132588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Arquitetura em Camadas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0"/>
          <p:cNvSpPr/>
          <p:nvPr/>
        </p:nvSpPr>
        <p:spPr>
          <a:xfrm>
            <a:off x="6492240" y="18104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ESP32 (Wokwi)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1"/>
          <p:cNvSpPr/>
          <p:nvPr/>
        </p:nvSpPr>
        <p:spPr>
          <a:xfrm>
            <a:off x="6492240" y="21578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↓  MQTT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2"/>
          <p:cNvSpPr/>
          <p:nvPr/>
        </p:nvSpPr>
        <p:spPr>
          <a:xfrm>
            <a:off x="6492240" y="25056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HiveMQ Broker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3"/>
          <p:cNvSpPr/>
          <p:nvPr/>
        </p:nvSpPr>
        <p:spPr>
          <a:xfrm>
            <a:off x="6492240" y="28530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↓  HTTP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4"/>
          <p:cNvSpPr/>
          <p:nvPr/>
        </p:nvSpPr>
        <p:spPr>
          <a:xfrm>
            <a:off x="6492240" y="3200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FastAPI Backend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5"/>
          <p:cNvSpPr/>
          <p:nvPr/>
        </p:nvSpPr>
        <p:spPr>
          <a:xfrm>
            <a:off x="6492240" y="35478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↓  REST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6"/>
          <p:cNvSpPr/>
          <p:nvPr/>
        </p:nvSpPr>
        <p:spPr>
          <a:xfrm>
            <a:off x="6492240" y="38952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App Mobile Web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411480" y="320040"/>
            <a:ext cx="54360" cy="5025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5670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App Mobile Web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457200" y="114300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Monitoramento 24/7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457200" y="1600200"/>
            <a:ext cx="3931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Interface responsiva em HTML que se conecta ao Backend para exibir telemetria em tempo real e fornecer botões de override manual da bomba.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457200" y="2788920"/>
            <a:ext cx="3931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Visualização de sensores de umidade e status da previsão climática integrados.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457200" y="3566160"/>
            <a:ext cx="3931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d374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Sensores de umidade do solo e temperatura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374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Previsão climática 24h (OpenWeather)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374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Decisão preditiva em tempo real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374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Botões LIGAR/DESLIGAR da bomba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374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Modo Automático integrado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4663440" y="960120"/>
            <a:ext cx="4160160" cy="3702960"/>
          </a:xfrm>
          <a:prstGeom prst="roundRect">
            <a:avLst>
              <a:gd name="adj" fmla="val 4938"/>
            </a:avLst>
          </a:prstGeom>
          <a:solidFill>
            <a:srgbClr val="e8f5e9"/>
          </a:solidFill>
          <a:ln w="12700">
            <a:solidFill>
              <a:srgbClr val="c8e6c9"/>
            </a:solidFill>
            <a:round/>
          </a:ln>
          <a:effectLst>
            <a:outerShdw algn="bl" blurRad="12708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4846320" y="109728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📱  AgroSmart App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4846320" y="1627560"/>
            <a:ext cx="3794400" cy="52992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4983480" y="17006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🌱 Solo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6766560" y="17006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67%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4846320" y="2286000"/>
            <a:ext cx="3794400" cy="52992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4983480" y="2359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🌡️ Temp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6766560" y="23590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24.5°C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4846320" y="2944440"/>
            <a:ext cx="3794400" cy="52992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4983480" y="30175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🌤️ Clima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6766560" y="30175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Sem chuva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7"/>
          <p:cNvSpPr/>
          <p:nvPr/>
        </p:nvSpPr>
        <p:spPr>
          <a:xfrm>
            <a:off x="4846320" y="3602880"/>
            <a:ext cx="3794400" cy="52992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8"/>
          <p:cNvSpPr/>
          <p:nvPr/>
        </p:nvSpPr>
        <p:spPr>
          <a:xfrm>
            <a:off x="4983480" y="36759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⚡ Status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9"/>
          <p:cNvSpPr/>
          <p:nvPr/>
        </p:nvSpPr>
        <p:spPr>
          <a:xfrm>
            <a:off x="6766560" y="36759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IRRIGAR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411480" y="320040"/>
            <a:ext cx="54360" cy="5025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670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Impacto e Viabilidade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365760" y="1280160"/>
            <a:ext cx="26514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400" b="1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50%</a:t>
            </a:r>
            <a:endParaRPr lang="pt-BR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365760" y="26517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Economia de Água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365760" y="30632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vs. Irrigação por Timer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3291840" y="1280160"/>
            <a:ext cx="26514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400" b="1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R$ 0</a:t>
            </a:r>
            <a:endParaRPr lang="pt-BR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3291840" y="26517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Custo Protótipo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3291840" y="30632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Via Simulação Wokwi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6217920" y="1280160"/>
            <a:ext cx="26514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400" b="1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6.8%</a:t>
            </a:r>
            <a:endParaRPr lang="pt-BR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6217920" y="26517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PIB Agro BR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6217920" y="30632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Mercado de Alto Potencial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365760" y="3520440"/>
            <a:ext cx="8412120" cy="18000"/>
          </a:xfrm>
          <a:prstGeom prst="rect">
            <a:avLst/>
          </a:prstGeom>
          <a:solidFill>
            <a:srgbClr val="d0e8d0"/>
          </a:solidFill>
          <a:ln w="12700">
            <a:solidFill>
              <a:srgbClr val="d0e8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365760" y="36118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Hardware físico estimado em R$ 160 | MQTT aberto para escalar | Agro = 6.8% do PIB brasileiro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411480" y="320040"/>
            <a:ext cx="54360" cy="5025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670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Estrutura do Projeto (GitHub)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457200" y="1234440"/>
            <a:ext cx="4388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📁  </a:t>
            </a:r>
            <a:r>
              <a:rPr lang="en-US" sz="16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src/</a:t>
            </a: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 Firmware C++ ESP32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457200" y="1801440"/>
            <a:ext cx="4388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📁  </a:t>
            </a:r>
            <a:r>
              <a:rPr lang="en-US" sz="16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backend/</a:t>
            </a: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 API FastAPI Python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457200" y="2368440"/>
            <a:ext cx="4388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📁  </a:t>
            </a:r>
            <a:r>
              <a:rPr lang="en-US" sz="16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mobile-app/</a:t>
            </a: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 Frontend Web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457200" y="2935080"/>
            <a:ext cx="4388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caf82"/>
                </a:solidFill>
                <a:effectLst/>
                <a:uFillTx/>
                <a:latin typeface="Calibri"/>
                <a:ea typeface="Calibri"/>
              </a:rPr>
              <a:t>📄  </a:t>
            </a:r>
            <a:r>
              <a:rPr lang="en-US" sz="16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diagram.json</a:t>
            </a: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 Circuito Wokwi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6"/>
          <p:cNvSpPr/>
          <p:nvPr/>
        </p:nvSpPr>
        <p:spPr>
          <a:xfrm>
            <a:off x="5029200" y="1188720"/>
            <a:ext cx="3748680" cy="1919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de8"/>
            </a:solidFill>
            <a:round/>
          </a:ln>
          <a:effectLst>
            <a:outerShdw algn="bl" blurRad="12708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5212080" y="137160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README.md atualizado: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5212080" y="1801440"/>
            <a:ext cx="3382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Inclui guia de instalação das dependências Python, configuração da chave da API OpenWeather e passos para rodar o Wokwi.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9"/>
          <p:cNvSpPr/>
          <p:nvPr/>
        </p:nvSpPr>
        <p:spPr>
          <a:xfrm>
            <a:off x="457200" y="3429000"/>
            <a:ext cx="8320680" cy="594000"/>
          </a:xfrm>
          <a:prstGeom prst="roundRect">
            <a:avLst>
              <a:gd name="adj" fmla="val 15385"/>
            </a:avLst>
          </a:prstGeom>
          <a:solidFill>
            <a:srgbClr val="eff8f0"/>
          </a:solidFill>
          <a:ln w="12700">
            <a:solidFill>
              <a:srgbClr val="b8df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548640" y="34290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5c3a"/>
                </a:solidFill>
                <a:effectLst/>
                <a:uFillTx/>
                <a:latin typeface="Courier New"/>
                <a:ea typeface="Courier New"/>
              </a:rPr>
              <a:t>🔗  Wokwi: </a:t>
            </a:r>
            <a:r>
              <a:rPr lang="en-US" sz="1300" b="0" u="none" strike="noStrike">
                <a:solidFill>
                  <a:srgbClr val="2e7d52"/>
                </a:solidFill>
                <a:effectLst/>
                <a:uFillTx/>
                <a:latin typeface="Courier New"/>
                <a:ea typeface="Courier New"/>
              </a:rPr>
              <a:t>wokwi.com/projects/466022879727959041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3886200" y="594360"/>
            <a:ext cx="1371240" cy="13712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3886200" y="594360"/>
            <a:ext cx="1371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pt-BR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914400" y="2057400"/>
            <a:ext cx="7314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1e5c3a"/>
                </a:solidFill>
                <a:effectLst/>
                <a:uFillTx/>
                <a:latin typeface="Calibri"/>
                <a:ea typeface="Calibri"/>
              </a:rPr>
              <a:t>Dúvidas?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1828800" y="329184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4a6362"/>
                </a:solidFill>
                <a:effectLst/>
                <a:uFillTx/>
                <a:latin typeface="Calibri"/>
                <a:ea typeface="Calibri"/>
              </a:rPr>
              <a:t>Obrigado pela atenção!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4"/>
          <p:cNvSpPr/>
          <p:nvPr/>
        </p:nvSpPr>
        <p:spPr>
          <a:xfrm>
            <a:off x="2286000" y="3886200"/>
            <a:ext cx="4571640" cy="639720"/>
          </a:xfrm>
          <a:prstGeom prst="roundRect">
            <a:avLst>
              <a:gd name="adj" fmla="val 14286"/>
            </a:avLst>
          </a:prstGeom>
          <a:solidFill>
            <a:srgbClr val="1e5c3a"/>
          </a:solidFill>
          <a:ln w="12700">
            <a:solidFill>
              <a:srgbClr val="1e5c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2286000" y="388620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github.com/hfc10/AgroSmart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Application>LibreOffice/25.8.7.3$Windows_X86_64 LibreOffice_project/30742500f2d3eb4366ac312fa33d3dcabdb3eba5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2026-06-16T06:54:22Z</dcterms:created>
  <dc:creator>PptxGenJS</dc:creator>
  <dc:description/>
  <dc:language>pt-BR</dc:language>
  <cp:lastModifiedBy/>
  <dcterms:modified xsi:type="dcterms:W3CDTF">2026-06-18T19:42:18Z</dcterms:modified>
  <cp:revision>3</cp:revision>
  <dc:subject>PptxGenJS Presentation</dc:subject>
  <dc:title>AgroSmart — Irrigação Inteligente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